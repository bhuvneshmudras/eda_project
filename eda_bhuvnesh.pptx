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5" r:id="rId8"/>
    <p:sldId id="266" r:id="rId9"/>
    <p:sldId id="267" r:id="rId10"/>
    <p:sldId id="268" r:id="rId11"/>
    <p:sldId id="269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05AED-E087-07EC-7928-668C19F0E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D9D15-6C2B-22D9-ADBA-BBA86A489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0AB5-5E3F-BB2C-CB38-3351A641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82CE-B1BC-660F-9815-15B7A619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1DF00-59EB-2D45-C297-D64DB3B7D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744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A32B-0653-5DB8-256F-694FBBAD8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60D17-AD31-E17D-CA21-53B5099F4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899FE-D11E-1906-B510-8ACFEC93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51EE0-4896-8AD6-F4EC-8DE3F6AA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5EA15-49E1-55DA-0F04-ACA5BC5D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51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8AE1-530E-E16D-CF9C-AF2128DD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AFAA0-75D8-44DD-D094-094AD94C7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3E249-8156-AB27-5E44-B52B5B15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4214-5E67-AA3C-6BE0-8459AA19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127C5-229A-138F-8DFF-610196B1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E81BE-97A3-3AFB-693B-1BF848E3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AD4E5-105F-6646-C768-7B4A837DC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BBE81-70FB-8258-43E8-F8DE6C2C77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80FAF-2715-80EC-9065-757E46D20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53EFA-03B2-A99B-71C9-50F39024B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D4886-AEAB-CAD6-880B-74847FF9F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6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91AA-A447-9519-E426-7D9176CA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E61D7-368E-7712-3F39-58121D5CA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ACF5C-D410-CF2E-BE9B-BF12947A3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EC88A-B2DA-39B6-3650-AF4548CC9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98D78-1E7A-3F0A-18EE-25852095D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640973-FBBB-E1EB-97C0-F2C9AEAA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03423E-2642-8E4E-C7BB-73025F98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407CC-2490-30CA-E4F8-CE7327F5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12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007D-4F8B-508C-FFBF-F1F7DC3D1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4814AB-1346-F87E-4F08-7A72C92A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62A45-921B-A96D-87AA-35A6D7A3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3A0E5-A838-7763-8531-CE3D2238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132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5B995-D950-6947-D0BB-0A74F1AB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E9896-AB9D-A55B-5428-F5A600FE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0BF6C-24C1-968E-2536-55E410F1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97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E6CB6-6847-6706-985E-B0D50EC4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0CE1B-525C-7154-9D1F-56434989D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B214D-6D35-52C9-F1CF-FE67184FB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B1B9F-6E66-210D-EB3B-20419CD0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BF58F-CE3C-9678-677A-46DD2B759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3A478-B3ED-57F1-3A04-9B999B85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701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3697F-FFD3-2793-48AF-23291E88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4C9227-971A-E1D6-C145-14ECDF8BA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A9DB2-5065-29D0-B855-F772156A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0BD1F-479D-6429-2E07-FB680262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E2EA5-73F4-0CB5-736A-8186F8DB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DE19B-0A0E-5C81-2F91-08D5B9E66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6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45DA-5F07-8EF9-8A12-06551F6D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B2C5D-E6CF-DCA1-07EF-412E69ADA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BB6D-ED00-980E-2479-A76046BA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64B88-70C2-C653-4BDA-7D5DD2FA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DA1E-B90B-7456-00BD-A1D39409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87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62356-A628-6541-A94E-12F66DCA8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7A0BC-433E-6BAE-DE1F-3049B4B2A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6E268-E2B9-CA68-3F57-CCFF8F99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DB043-2E9F-E446-D3C0-24417C51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92947-B13A-0CED-1FEE-A5DFD364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535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AF93-2D38-B042-F79A-8BCBA41B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436C5-7803-C3F1-CCA1-64A6B09D4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2E66-7D32-E263-0BEE-A3E8CB39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43F2-D4C1-4AB8-B1E1-1F6E0A7A3A1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D5BFE-9EDE-60A3-541F-1B746064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07ECE-F7B8-F513-6323-BE4D913E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1621F-BFA7-49E6-9BD6-7E5D87CD5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95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8CD67-6F76-5D10-1013-3A9AE5EA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9A8B-B728-04CE-3921-D3FB3294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70C24-7833-EA67-F199-DCD5364E4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98F7-3FF2-4E95-B23A-9C68D52185FF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51326-800B-4C8C-7167-3747BA319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A3898-0CEA-55A5-BAA4-E486A24D5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06593-E74A-471A-8280-964275D9DA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124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1101-40C3-744B-9A86-21442F5C9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EXPLORATORY DATA ANALYSIS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C4556-7A2D-F280-5613-BA32DF08AD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Customer Policy Analysis for Premium Discount Strategy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45276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6AA9B-862C-F6A2-EF69-76E46917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🧰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1: Importing Libraries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003A-7667-83E2-1216-D0420F1C0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We start by bringing in tools that help us work with data and make charts: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Pandas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For reading and organizing data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NumPy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For handling numbers and calculations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Matplotlib &amp; Seaborn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For creating visuals and charts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OS &amp; Warnings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For managing files and keeping the output clean</a:t>
            </a:r>
          </a:p>
        </p:txBody>
      </p:sp>
    </p:spTree>
    <p:extLst>
      <p:ext uri="{BB962C8B-B14F-4D97-AF65-F5344CB8AC3E}">
        <p14:creationId xmlns:p14="http://schemas.microsoft.com/office/powerpoint/2010/main" val="2646879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A41C-CC04-752C-679D-047416F1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📂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2: Loading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379F7-C75E-52DD-F908-C15D24C8D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IN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We have </a:t>
            </a:r>
            <a:r>
              <a:rPr lang="en-IN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two datasets</a:t>
            </a:r>
            <a:r>
              <a:rPr lang="en-IN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: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Customer Details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Information like age, gender, vehicle age, etc.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Policy Details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Information like annual premium, sales channel, and whether they responded to the policy offer.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These two are read into the program and stored in memory.</a:t>
            </a:r>
          </a:p>
        </p:txBody>
      </p:sp>
    </p:spTree>
    <p:extLst>
      <p:ext uri="{BB962C8B-B14F-4D97-AF65-F5344CB8AC3E}">
        <p14:creationId xmlns:p14="http://schemas.microsoft.com/office/powerpoint/2010/main" val="3046732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74B3-2BCD-32EA-09D2-6A37A212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🧹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3: 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2975-154E-8B90-5C80-D511E9551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Before analysis, we need to make sure our data is accurate and tidy.</a:t>
            </a:r>
            <a:b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</a:b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The script does several cleaning steps:</a:t>
            </a:r>
          </a:p>
          <a:p>
            <a:pPr marR="0" lvl="0" rtl="0"/>
            <a:r>
              <a:rPr lang="en-IN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Handle Missing Values (handle_nulls)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If something is missing, it fills it in smartly: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Numbers → replaced with the average value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Text → replaced with the most common value</a:t>
            </a:r>
          </a:p>
          <a:p>
            <a:pPr marR="0" lvl="0" rtl="0"/>
            <a:r>
              <a:rPr lang="en-IN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Handle Outliers (handle_outliers)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Sometimes numbers are way too high or too low (like an error).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Those “outliers” are replaced with average values to keep things realistic.</a:t>
            </a:r>
          </a:p>
          <a:p>
            <a:pPr marR="0" lvl="0" rtl="0"/>
            <a:r>
              <a:rPr lang="en-IN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Clean Text (clean_strings)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Makes all text lowercase and removes extra spaces, so values like “ Male ” and “male” are treated the same.</a:t>
            </a:r>
          </a:p>
          <a:p>
            <a:pPr marR="0" lvl="0" rtl="0"/>
            <a:r>
              <a:rPr lang="en-IN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Remove Duplicates (remove_duplicates)</a:t>
            </a:r>
          </a:p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Deletes any repeated records to ensure each customer is counted once.</a:t>
            </a:r>
          </a:p>
        </p:txBody>
      </p:sp>
    </p:spTree>
    <p:extLst>
      <p:ext uri="{BB962C8B-B14F-4D97-AF65-F5344CB8AC3E}">
        <p14:creationId xmlns:p14="http://schemas.microsoft.com/office/powerpoint/2010/main" val="34842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B366-E7E7-E157-4C3C-672B1133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 dirty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🔗</a:t>
            </a:r>
            <a:r>
              <a:rPr lang="en-US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4: Merging the Two Datasets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28B08-09E8-493F-8C58-105CE2EE3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We combine the </a:t>
            </a:r>
            <a:r>
              <a:rPr lang="en-US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customer</a:t>
            </a: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and </a:t>
            </a:r>
            <a:r>
              <a:rPr lang="en-US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policy</a:t>
            </a: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data into a single </a:t>
            </a:r>
            <a:r>
              <a:rPr lang="en-US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master table</a:t>
            </a: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using the unique </a:t>
            </a:r>
            <a:r>
              <a:rPr lang="en-US" b="0" i="0" u="none" strike="noStrike" kern="100" baseline="0" dirty="0" err="1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customer_id</a:t>
            </a: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.</a:t>
            </a:r>
            <a:b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</a:b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This helps us see all details for each customer in one place.</a:t>
            </a:r>
          </a:p>
          <a:p>
            <a:pPr marR="0" lvl="0" rtl="0"/>
            <a:endParaRPr lang="en-IN" b="0" i="0" u="none" strike="noStrike" kern="100" baseline="0" dirty="0">
              <a:solidFill>
                <a:srgbClr val="2F5496"/>
              </a:solidFill>
              <a:latin typeface="Mangal" panose="02040503050203030202" pitchFamily="18" charset="0"/>
              <a:ea typeface="Calibri" panose="020F0502020204030204" pitchFamily="34" charset="0"/>
            </a:endParaRPr>
          </a:p>
          <a:p>
            <a:pPr marR="0" lvl="0" rtl="0"/>
            <a:endParaRPr lang="en-IN" b="0" i="0" u="none" strike="noStrike" kern="100" baseline="0" dirty="0">
              <a:solidFill>
                <a:srgbClr val="2F5496"/>
              </a:solidFill>
              <a:latin typeface="Mangal" panose="02040503050203030202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40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52A926-CF6A-C763-7F3B-FCA329C616FF}"/>
              </a:ext>
            </a:extLst>
          </p:cNvPr>
          <p:cNvSpPr txBox="1"/>
          <p:nvPr/>
        </p:nvSpPr>
        <p:spPr>
          <a:xfrm>
            <a:off x="678426" y="383459"/>
            <a:ext cx="8465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rtl="0"/>
            <a:r>
              <a:rPr lang="en-US" sz="4800" b="1" i="0" u="none" strike="noStrike" kern="100" baseline="0" dirty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💡</a:t>
            </a:r>
            <a:r>
              <a:rPr lang="en-US" sz="4800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5: Generating Insights</a:t>
            </a:r>
          </a:p>
          <a:p>
            <a:pPr marR="0" lvl="0" rtl="0"/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Here we create simple charts to visualize trends:</a:t>
            </a:r>
          </a:p>
          <a:p>
            <a:pPr marR="0" lvl="0" rtl="0"/>
            <a:r>
              <a:rPr lang="en-US" b="1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Gender-wise Average Premium</a:t>
            </a:r>
            <a:b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</a:br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→ Compares how much premium males vs. females pay on average.</a:t>
            </a:r>
          </a:p>
          <a:p>
            <a:pPr marR="0" lvl="0" rtl="0"/>
            <a:r>
              <a:rPr lang="en-US" b="0" i="0" u="none" strike="noStrike" kern="100" baseline="0" dirty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5678CD-E72A-03D1-7347-EEE29D4C2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8" y="2772696"/>
            <a:ext cx="7718328" cy="355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1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256A83-A38D-B10D-28F2-2C6108B1AE37}"/>
              </a:ext>
            </a:extLst>
          </p:cNvPr>
          <p:cNvSpPr txBox="1"/>
          <p:nvPr/>
        </p:nvSpPr>
        <p:spPr>
          <a:xfrm>
            <a:off x="137651" y="412955"/>
            <a:ext cx="8190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Age-wise Premium Trend</a:t>
            </a:r>
            <a:br>
              <a:rPr lang="en-IN" dirty="0"/>
            </a:br>
            <a:r>
              <a:rPr lang="en-IN" dirty="0"/>
              <a:t>→ Shows how premium changes as people get older.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298702-6AC2-8E20-FF58-C2CF483E9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1081548"/>
            <a:ext cx="10510683" cy="417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2097BE-6D86-FF95-B892-1CCB79CB2E8E}"/>
              </a:ext>
            </a:extLst>
          </p:cNvPr>
          <p:cNvSpPr txBox="1"/>
          <p:nvPr/>
        </p:nvSpPr>
        <p:spPr>
          <a:xfrm>
            <a:off x="186813" y="363795"/>
            <a:ext cx="9655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Gender Distribution Pie Chart</a:t>
            </a:r>
            <a:br>
              <a:rPr lang="en-IN" dirty="0"/>
            </a:br>
            <a:r>
              <a:rPr lang="en-IN" dirty="0"/>
              <a:t>→ Displays what percentage of customers are male or female.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08EC53-8969-497C-76C9-BCD00B2C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1142995"/>
            <a:ext cx="5525729" cy="4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4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FBC1CB-FA9E-4A25-069E-0C6E9943E53F}"/>
              </a:ext>
            </a:extLst>
          </p:cNvPr>
          <p:cNvSpPr txBox="1"/>
          <p:nvPr/>
        </p:nvSpPr>
        <p:spPr>
          <a:xfrm>
            <a:off x="127819" y="334297"/>
            <a:ext cx="9792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Vehicle Age vs. Premium</a:t>
            </a:r>
            <a:br>
              <a:rPr lang="en-IN" dirty="0"/>
            </a:br>
            <a:r>
              <a:rPr lang="en-IN" dirty="0"/>
              <a:t>→ Shows how the vehicle’s age affects the premium cost.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FD06BA-F8F1-6D92-49F7-A68B9E484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8" y="1600196"/>
            <a:ext cx="854423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0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5AB89A-E7D6-5A74-A78D-573BF84C5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02387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heatmap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visual chart that uses colors to represent the magnitude or intensity of data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1C45A-CEC0-6E09-B57D-A19A526EB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4" y="626800"/>
            <a:ext cx="10238765" cy="524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16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CD738-F6B1-5CF6-4E00-055004BB5705}"/>
              </a:ext>
            </a:extLst>
          </p:cNvPr>
          <p:cNvSpPr txBox="1"/>
          <p:nvPr/>
        </p:nvSpPr>
        <p:spPr>
          <a:xfrm>
            <a:off x="147484" y="216310"/>
            <a:ext cx="89965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do the </a:t>
            </a:r>
            <a:r>
              <a:rPr lang="en-IN" dirty="0" err="1"/>
              <a:t>colors</a:t>
            </a:r>
            <a:r>
              <a:rPr lang="en-IN" dirty="0"/>
              <a:t> </a:t>
            </a:r>
            <a:r>
              <a:rPr lang="en-IN" dirty="0" err="1"/>
              <a:t>mean?Dark</a:t>
            </a:r>
            <a:r>
              <a:rPr lang="en-IN" dirty="0"/>
              <a:t> red: Strong positive relationship Dark blue: Strong negative relationship Light </a:t>
            </a:r>
            <a:r>
              <a:rPr lang="en-IN" dirty="0" err="1"/>
              <a:t>colors</a:t>
            </a:r>
            <a:r>
              <a:rPr lang="en-IN" dirty="0"/>
              <a:t>: Weak or no relationship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B084A9-D75E-3F3C-7723-904CA8683319}"/>
              </a:ext>
            </a:extLst>
          </p:cNvPr>
          <p:cNvSpPr txBox="1"/>
          <p:nvPr/>
        </p:nvSpPr>
        <p:spPr>
          <a:xfrm>
            <a:off x="147483" y="862641"/>
            <a:ext cx="1029437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does the data show here?</a:t>
            </a:r>
          </a:p>
          <a:p>
            <a:r>
              <a:rPr lang="en-IN" dirty="0"/>
              <a:t>Let’s look at some interesting parts of your heatmap:</a:t>
            </a:r>
          </a:p>
          <a:p>
            <a:pPr marL="342900" indent="-342900">
              <a:buAutoNum type="arabicPeriod"/>
            </a:pPr>
            <a:r>
              <a:rPr lang="en-IN" dirty="0"/>
              <a:t>Age and Sales Channel Code (-0.58):There’s a fairly strong negative relationship, meaning certain sales channels are used more by younger or older age groups (as one increases, the other tends to decrease).</a:t>
            </a:r>
          </a:p>
          <a:p>
            <a:pPr marL="342900" indent="-342900">
              <a:buAutoNum type="arabicPeriod"/>
            </a:pPr>
            <a:r>
              <a:rPr lang="en-IN" dirty="0"/>
              <a:t>2. Previously Insured and Response (-0.34):People who were already insured are less likely to respond to a new insurance offer — makes sense, since they already have coverage.</a:t>
            </a:r>
          </a:p>
          <a:p>
            <a:pPr marL="342900" indent="-342900">
              <a:buAutoNum type="arabicPeriod"/>
            </a:pPr>
            <a:r>
              <a:rPr lang="en-IN" dirty="0"/>
              <a:t>3. Previously Insured and Annual Premium (0.22):Slight positive relationship — those who were previously insured might have slightly higher premium values.</a:t>
            </a:r>
          </a:p>
          <a:p>
            <a:pPr marL="342900" indent="-342900">
              <a:buAutoNum type="arabicPeriod"/>
            </a:pPr>
            <a:r>
              <a:rPr lang="en-IN" dirty="0"/>
              <a:t>4. Most other values (close to 0):These show little or no correlation, meaning those features don’t affect each other much.</a:t>
            </a:r>
          </a:p>
        </p:txBody>
      </p:sp>
    </p:spTree>
    <p:extLst>
      <p:ext uri="{BB962C8B-B14F-4D97-AF65-F5344CB8AC3E}">
        <p14:creationId xmlns:p14="http://schemas.microsoft.com/office/powerpoint/2010/main" val="2147868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EE74-82A5-C15E-50C1-D4DCB0BD1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🔍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6: Correlation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0782C-77C5-73DC-B57A-41D620647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This part checks 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how strongly two factors are related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— for example, how much age affects the annual premium.</a:t>
            </a:r>
            <a:b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</a:b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It also produces a 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heatmap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(a colorful chart) that shows relationships between all numeric factors.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Positive correlation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as one increases, the other increases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Negative correlation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as one increases, the other decreases</a:t>
            </a:r>
          </a:p>
          <a:p>
            <a:pPr marR="0" lvl="0" rtl="0"/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No significant relationship</a:t>
            </a:r>
            <a:r>
              <a:rPr lang="en-US" b="0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→ they’re mostly independent</a:t>
            </a:r>
          </a:p>
        </p:txBody>
      </p:sp>
    </p:spTree>
    <p:extLst>
      <p:ext uri="{BB962C8B-B14F-4D97-AF65-F5344CB8AC3E}">
        <p14:creationId xmlns:p14="http://schemas.microsoft.com/office/powerpoint/2010/main" val="3113267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52A4-16DD-ADF2-8750-EFB9BD89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1" i="0" u="none" strike="noStrike" kern="100" baseline="0">
                <a:solidFill>
                  <a:srgbClr val="2F5496"/>
                </a:solidFill>
                <a:latin typeface="Segoe UI Emoji" panose="020B0502040204020203" pitchFamily="34" charset="0"/>
                <a:ea typeface="Calibri" panose="020F0502020204030204" pitchFamily="34" charset="0"/>
              </a:rPr>
              <a:t>💾</a:t>
            </a:r>
            <a:r>
              <a:rPr lang="en-US" b="1" i="0" u="none" strike="noStrike" kern="100" baseline="0">
                <a:solidFill>
                  <a:srgbClr val="2F5496"/>
                </a:solidFill>
                <a:latin typeface="Mangal" panose="02040503050203030202" pitchFamily="18" charset="0"/>
                <a:ea typeface="Calibri" panose="020F0502020204030204" pitchFamily="34" charset="0"/>
              </a:rPr>
              <a:t> Step 7: Save and Run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40514-C732-3A20-2BCF-D4EBDEA0B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8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659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Mangal</vt:lpstr>
      <vt:lpstr>Segoe UI Emoji</vt:lpstr>
      <vt:lpstr>Office Theme</vt:lpstr>
      <vt:lpstr>EXPLORATORY DATA ANALYSIS </vt:lpstr>
      <vt:lpstr>🧰 Step 1: Importing Libraries</vt:lpstr>
      <vt:lpstr>📂 Step 2: Loading Data</vt:lpstr>
      <vt:lpstr>🧹 Step 3: Data Cleaning</vt:lpstr>
      <vt:lpstr>🔗 Step 4: Merging the Two Datasets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🔍 Step 6: Correlation Analysis</vt:lpstr>
      <vt:lpstr>💾 Step 7: Save and Run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Mudras</dc:creator>
  <cp:lastModifiedBy>Sakshi Mudras</cp:lastModifiedBy>
  <cp:revision>4</cp:revision>
  <dcterms:created xsi:type="dcterms:W3CDTF">2025-11-05T09:05:12Z</dcterms:created>
  <dcterms:modified xsi:type="dcterms:W3CDTF">2025-11-07T06:26:24Z</dcterms:modified>
</cp:coreProperties>
</file>